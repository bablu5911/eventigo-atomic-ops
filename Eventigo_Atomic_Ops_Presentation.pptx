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0" y="1371600"/>
            <a:ext cx="3962095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ENTERPRISE EVENT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484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</a:defRPr>
            </a:pPr>
            <a:r>
              <a:t>EVENTIGO (ATOMIC-OPS)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91840"/>
            <a:ext cx="8534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38BDF8"/>
                </a:solidFill>
              </a:defRPr>
            </a:pPr>
            <a:r>
              <a:t>High-Concurrency Ticket Engine • Dual-Engine Persistence • Cryptographic Turnstile Check-In • Super Admin Governance Suite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389120"/>
            <a:ext cx="310896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45720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⚡ Atomic Locking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8920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Zero-oversell guaranteed during peak ticket drops via atomic database increment counters.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40910" y="4389120"/>
            <a:ext cx="310896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69510" y="45720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🛡️ Gate Lockdown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3790" y="48920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Instant platform-wide turnstile kill switch freezing check-ins during crowd emergencies.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5455" y="4389120"/>
            <a:ext cx="310896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4055" y="45720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💎 3D Holographic Passes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8335" y="48920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Three.js WebGL festival badges, dynamic thermal POS receipts, and PDF tickets.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Eventigo (Atomic-Ops) | Enterprise Platform Architecture  •  Slide 1 of 14  •  Live: eventigo-mu.vercel.app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MARKET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Problem: Why Traditional Ticketing Fails at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Analyzing catastrophic failure modes in high-demand event operations and gate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66360" cy="1920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1. Overselling &amp; Race Conditions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4617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Flash ticket drops crash databases and oversell inventory by 5-15% due to non-atomic read-then-write cycles, causing customer backlash and compliance penalties.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166360" cy="1920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2. Turnstile Fraud &amp; Counterfeiting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23160"/>
            <a:ext cx="4617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Static barcode screenshots allow multiple patrons to enter on a single ticket. Gate staff lack real-time synchronization, fraud logs, or single-use verification states.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166360" cy="1920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6052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3. Rigid Admin Privileges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4617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Standard systems lack strict role isolation. Subordinate staff can accidentally elevate permissions, alter tickets, or compromise executive ownership accounts.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977639"/>
            <a:ext cx="5166360" cy="1920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16052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4. Opaque Financial Clearing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572000"/>
            <a:ext cx="4617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Settlements take weeks to reconcile. Organizers lack transparency regarding payment gateway fees (2.9% + 30¢), facility commissions, and payout escrows.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Eventigo (Atomic-Ops) | Enterprise Platform Architecture  •  Slide 2 of 14  •  Live: eventigo-mu.vercel.app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SYSTEM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End-to-End Enterprise Cloud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Decoupled React 18 SPA + Serverless Express REST API + Dual-Engine Database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1. Edge Client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94A3B8"/>
                </a:solidFill>
              </a:defRPr>
            </a:pPr>
            <a:r>
              <a:t>• Host: Vercel Edge Global CDN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Framework: React 18 + Vite (TailwindCSS)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Visuals: Framer Motion &amp; Three.js WebGL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Reverse Proxy: frontend/vercel.json routes /api/* directly to backend, preventing CORS issues and preserving cookies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Domain: eventigo-mu.vercel.app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29184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01168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2. Cloud API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7744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94A3B8"/>
                </a:solidFill>
              </a:defRPr>
            </a:pPr>
            <a:r>
              <a:t>• Runtime: Node.js 18+ on Vercel Serverless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Framework: Express.js REST Engine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Security: Helmet, Rate Limiter, Joi Validators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Authentication: JWT + 2FA OTP + Google OAuth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Barcode/PDF: On-the-fly QR &amp; PDFKit Generator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Domain: backend-zeta-seven-85.vercel.app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329184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01168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3. Dual-Engine Persistence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37744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94A3B8"/>
                </a:solidFill>
              </a:defRPr>
            </a:pPr>
            <a:r>
              <a:t>• Primary DB: MongoDB Atlas (Mongoose ODM)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Failover DB: In-Memory Relational Proxy (modelProxy.js)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Zero-Downtime: Auto-switches during cold starts or network timeouts with 0 API crashes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Integrity: Atomic $inc operators prevent oversell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Relational: Emulates populate, sort, and select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Eventigo (Atomic-Ops) | Enterprise Platform Architecture  •  Slide 3 of 14  •  Live: eventigo-mu.vercel.app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ZERO-OVERSELL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High-Concurrency Ticket Locking &amp; Race Condition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How Atomic-Ops handles 10,000+ simultaneous purchase requests without overselling 1 seat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The Conventional Race Condition Flaw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In standard ORMs, checkout executes in 3 sequential steps:</a:t>
            </a:r>
            <a:br/>
            <a:r>
              <a:t>1. READ: check remaining inventory (e.g., 2 tickets left)</a:t>
            </a:r>
            <a:br/>
            <a:r>
              <a:t>2. PROCESS: charge payment via Stripe</a:t>
            </a:r>
            <a:br/>
            <a:r>
              <a:t>3. WRITE: update inventory = inventory - requested</a:t>
            </a:r>
            <a:br/>
            <a:br/>
            <a:r>
              <a:t>When 50 users read inventory simultaneously in step 1, all 50 observe '2 tickets left' and proceed to purchase. Result: 100 tickets sold for an event with only 2 seats available.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The Atomic-Ops Concurrency Shield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Atomic-Ops uses MongoDB atomic filter decrements:</a:t>
            </a:r>
            <a:br/>
            <a:br/>
            <a:r>
              <a:t>findOneAndUpdate({</a:t>
            </a:r>
            <a:br/>
            <a:r>
              <a:t>  _id: ticketTypeId,</a:t>
            </a:r>
            <a:br/>
            <a:r>
              <a:t>  availableQuantity: { $gte: requestedQty }</a:t>
            </a:r>
            <a:br/>
            <a:r>
              <a:t>}, {</a:t>
            </a:r>
            <a:br/>
            <a:r>
              <a:t>  $inc: { availableQuantity: -requestedQty }</a:t>
            </a:r>
            <a:br/>
            <a:r>
              <a:t>})</a:t>
            </a:r>
            <a:br/>
            <a:br/>
            <a:r>
              <a:t>• Atomic Guarantee: The query and deduction occur in a single CPU instruction cycle at database level.</a:t>
            </a:r>
            <a:br/>
            <a:r>
              <a:t>• Instant Conflict Return: Once quantity reaches 0, all concurrent threads fail immediately with HTTP 409 Conflict, completely eliminating overselling.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Eventigo (Atomic-Ops) | Enterprise Platform Architecture  •  Slide 4 of 14  •  Live: eventigo-mu.vercel.app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HIGH AVAILABILITY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Dual-Engine Data Resilience: Zero-Downtime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Ensuring 100% operational availability even during cloud database disruptions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728655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102714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Intelligent Model Proxy (modelProxy.js)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10149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94A3B8"/>
                </a:solidFill>
              </a:defRPr>
            </a:pPr>
            <a:r>
              <a:t>• Automatic Health Detection: During application boot, the server attempts a high-speed handshake with MongoDB Atlas. If DNS resolution fails, IP whitelists reject connection, or Atlas enters maintenance, the engine triggers in-memory proxy mode without throwing fatal unhandled rejections.</a:t>
            </a:r>
            <a:br/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Transparent Drop-In Replacement: Controllers and services interact with models using standard Mongoose syntax (User.findOne, Booking.findByIdAndUpdate, Event.find().populate('category')). The modelProxy intercepts every query and routes it to in-memory NeDB collections.</a:t>
            </a:r>
            <a:br/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Relational Document Population: In-memory stores typically lack Mongoose .populate(). Atomic-Ops engineered an internal relational join simulator that hydrates foreign key references (e.g., populating organizerId in Event, or userId and ticketTypeId in Booking).</a:t>
            </a:r>
            <a:br/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Production Telemetry: Super Admins can view the live database operational engine ('MongoDB Connected' or 'In-Memory Proxy Active') directly from the System Diagnostics dashboard.</a:t>
            </a:r>
            <a:br/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Eventigo (Atomic-Ops) | Enterprise Platform Architecture  •  Slide 5 of 14  •  Live: eventigo-mu.vercel.app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GATE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Cryptographic QR Validation &amp; Emergency Venue Lockdown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Advanced turnstile fraud prevention and instantaneous crowd control kill switches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Cryptographic Turnstile Check-In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94A3B8"/>
                </a:solidFill>
              </a:defRPr>
            </a:pPr>
            <a:r>
              <a:t>• QR Signature Bundle: Contains { bookingId, eventId, attendeeEmail, timestamp, cryptoSignature } preventing forgery.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Single-Use Gate State: Upon first scan, status shifts from 'confirmed' to 'checked_in', logging staff ID and gate number.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Duplicate Entry Rejection: Subsequent scans alert staff: '⚠️ ALREADY CHECKED IN at 19:42 by Staff Gate B'.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Early-Exit &amp; Pass Re-entry: Staff can mark temporary pass-outs for controlled re-entry.</a:t>
            </a:r>
            <a:br/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Emergency Venue Gate Freeze (Kill Switch)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94A3B8"/>
                </a:solidFill>
              </a:defRPr>
            </a:pPr>
            <a:r>
              <a:t>• Exclusive Super Admin Control: Triggered from the venue control deck during stampedes, security drills, or power events.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Instant Platform Broadcast: Reaches all door scanners, mobile turnstiles, and staff accounts in &lt; 500ms.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Turnstile Freeze: All QR scans are locked with: '⚠️ VENUE EMERGENCY LOCKDOWN: All gate check-in systems are temporarily frozen.'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One-Click Restoration: Lift lockdown once emergency is resolved to immediately resume normal guest flow.</a:t>
            </a:r>
            <a:br/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Eventigo (Atomic-Ops) | Enterprise Platform Architecture  •  Slide 6 of 14  •  Live: eventigo-mu.vercel.app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GOVERNANCE &amp;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Enterprise RBAC Hierarchy &amp; Super Admin Immutability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Strict separation of duties across 5 operational rings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72865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4114800"/>
                <a:gridCol w="2590495"/>
              </a:tblGrid>
              <a:tr h="7162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Ring &amp; Role</a:t>
                      </a:r>
                    </a:p>
                  </a:txBody>
                  <a:tcPr>
                    <a:solidFill>
                      <a:srgbClr val="2835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Portal / Workspace</a:t>
                      </a:r>
                    </a:p>
                  </a:txBody>
                  <a:tcPr>
                    <a:solidFill>
                      <a:srgbClr val="2835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Key Permissions &amp; Operational Scope</a:t>
                      </a:r>
                    </a:p>
                  </a:txBody>
                  <a:tcPr>
                    <a:solidFill>
                      <a:srgbClr val="2835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Security Protections</a:t>
                      </a:r>
                    </a:p>
                  </a:txBody>
                  <a:tcPr>
                    <a:solidFill>
                      <a:srgbClr val="28354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👑 Super Admin (Ring 0)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/superadmin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Venue Owner, Financial Settlements, Commission Slider, Gate Freeze, Appoint/Demote Admins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Hard Immutability: Blocked from edit/demotion by regular admins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🛡️ Admin (Ring 1)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/admin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Venue Operations, Event Approvals, Staff Allocation, User Status Management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2FA OTP Challenge Required; cannot alter Super Admin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⚡ Organizer (Ring 2)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/organizer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Create Events, Manage Ticket Tiers, View Gross Sales &amp; Guest Manifests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Restricted to assigned events; cannot access system telemetry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🚪 Door Staff (Ring 3)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/door-checker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Turnstile Camera Scanner, QR Verification, Gate Check-in &amp; Early Exit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Read-only ticket validation; zero access to financial ledgers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🎟️ Attendee (Ring 4)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/events, /my-bookings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Ticket Discovery, Checkout, 3D WebGL Wallet, Thermal Receipt Download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Scoped strictly to own purchases; session isolation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Eventigo (Atomic-Ops) | Enterprise Platform Architecture  •  Slide 7 of 14  •  Live: eventigo-mu.vercel.app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FINANCIAL CLEARING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Dynamic Facility Commission &amp; Escrow Settlement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Transparent multi-party revenue clearing between venue owners and event producers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Dynamic Venue Commission Slider (5% - 50%)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94A3B8"/>
                </a:solidFill>
              </a:defRPr>
            </a:pPr>
            <a:r>
              <a:t>• Executive Pricing Control: Super Admins adjust venue take percentage live via an intuitive slider.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Real-Time Projections: Adjusting the slider instantly recalculates Gross Revenue, Venue Net Retained Yield, and Remaining Organizer Payout Pools.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Global Persistence: Automatically updates platform fee schedules for all upcoming event bookings.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Default Calibration: Calibrated at 20% platform facility take with dynamic recalculation upon checkout.</a:t>
            </a:r>
            <a:br/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Escrow Simulator &amp; Batch Settlements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94A3B8"/>
                </a:solidFill>
              </a:defRPr>
            </a:pPr>
            <a:r>
              <a:t>• Stripe Processing Fee Modeling: Accurately estimates payment processor deductions: (Gross × 2.9%) + $0.30 per transaction.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Batch Payout Generator: Super Admins execute batch payouts with custom audit memos (e.g., 'August Week 4 Settlement').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Immutable Audit Ledger: Issues tamper-proof reference IDs (e.g., SETTLE-2026-X84B) archived in financial history.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Zero Double-Clearing: Payout batches automatically mark processed transactions as cleared in escrow records.</a:t>
            </a:r>
            <a:br/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Eventigo (Atomic-Ops) | Enterprise Platform Architecture  •  Slide 8 of 14  •  Live: eventigo-mu.vercel.app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IMMERSIVE UI/UX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3D WebGL Holographic Passes &amp; Thermal Ticket Subsystem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Elevating event ticketing from flat forms to an interactive visual experience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3D Interactive Holographic Pass (Three.js)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94A3B8"/>
                </a:solidFill>
              </a:defRPr>
            </a:pPr>
            <a:r>
              <a:t>• Three.js &amp; React Three Fiber: High-performance 3D canvas rendering metallic VIP festival credentials.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Physics &amp; Specular Highlights: Badge responds to cursor hover with smooth 3D tilt, holographic gradients, and metallic reflections.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Dynamic Tier Themes: Automatically morphs shader materials based on tier (Gold for VIP, Emerald for Backstage, Obsidian for GA).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Mobile Responsive: Smooth 60 FPS performance optimized for mobile touch gestures and gyroscope tilt.</a:t>
            </a:r>
            <a:br/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Thermal POS Receipt &amp; PDF Export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774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94A3B8"/>
                </a:solidFill>
              </a:defRPr>
            </a:pPr>
            <a:r>
              <a:t>• Thermal POS Simulation: Renders authentic box-office receipt styling with jagged paper tear cuts and mono-spaced fonts.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Integrated QR &amp; Barcode: Scannable high-density barcode matrix for instant gate verification.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Native PDFKit Generator: Backend compiles binary PDF tickets on-the-fly for physical printout or offline smartphone storage.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Confetti &amp; Micro-interactions: Canvas-confetti celebration particles upon booking confirmation.</a:t>
            </a:r>
            <a:br/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Eventigo (Atomic-Ops) | Enterprise Platform Architecture  •  Slide 9 of 14  •  Live: eventigo-mu.vercel.app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DEFENSIVE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Multi-Tier Security &amp; Authentication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Zero-trust defenses safeguarding user credentials, APIs, and turnstiles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66360" cy="1920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1. Multi-Tier Auth &amp; 2FA OTP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4617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Standard users receive JWT access tokens with secure HTTP-only refresh cookies. Privileged roles (Super Admin, Admin) trigger mandatory 2FA OTP challenges (Demo OTP: 123456) before entering administrative workspaces.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166360" cy="1920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2. Real Google OAuth 2.0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23160"/>
            <a:ext cx="4617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Supports official Google Sign-In. The backend validates credentials directly against Google's tokeninfo API (https://oauth2.googleapis.com/tokeninfo) ensuring authentic email identity and preventing token forgery.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166360" cy="1920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6052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3. Perimeter Hardening &amp; Rate Limiting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4617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Secured with Helmet HTTP response headers (X-Frame-Options, CSP, HSTS). Express rate limiters protect auth routes against brute-force attacks. Strict CORS whitelists prevent unauthorized cross-origin requests.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977639"/>
            <a:ext cx="5166360" cy="1920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16052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4. Schema Sanitization (Joi &amp; Zod)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572000"/>
            <a:ext cx="4617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Strict input validation across both client and server layers. Eliminates NoSQL injection, malformed payloads, and prototype pollution before reaching application services.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Eventigo (Atomic-Ops) | Enterprise Platform Architecture  •  Slide 10 of 14  •  Live: eventigo-mu.vercel.app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CLOUD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Live Production Deployment &amp; Health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High-efficiency serverless topology with edge reverse-proxy routing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1920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Live Client (Edge)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28346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URL: eventigo-mu.vercel.app</a:t>
            </a:r>
            <a:br/>
            <a:r>
              <a:t>Status: 🟢 100% Operational</a:t>
            </a:r>
            <a:br/>
            <a:r>
              <a:t>Build: React 18 + Vite Rollup</a:t>
            </a:r>
            <a:br/>
            <a:r>
              <a:t>Global Latency: &lt; 45ms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291840" cy="1920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01168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Cloud API (Serverless)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77440"/>
            <a:ext cx="28346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URL: backend-zeta-seven-85.vercel.app</a:t>
            </a:r>
            <a:br/>
            <a:r>
              <a:t>Status: 🟢 Health Check UP</a:t>
            </a:r>
            <a:br/>
            <a:r>
              <a:t>Proxy: /api/* Edge Rewrites</a:t>
            </a:r>
            <a:br/>
            <a:r>
              <a:t>Cold Start: Optimized &lt; 800ms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3291840" cy="1920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01168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Source Repository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377440"/>
            <a:ext cx="28346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Repo: Eventigo-Atomic-Ops</a:t>
            </a:r>
            <a:br/>
            <a:r>
              <a:t>Branch: main (Synced)</a:t>
            </a:r>
            <a:br/>
            <a:r>
              <a:t>CI/CD: Automatic Git Deploy</a:t>
            </a:r>
            <a:br/>
            <a:r>
              <a:t>Platform: GitHub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4023360"/>
            <a:ext cx="10728655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4206240"/>
            <a:ext cx="102714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Why Vercel Edge Reverse-Proxy Routing Wins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526280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By configuring vercel.json rewrite rules ({ 'src': '/api/(.*)', 'dest': 'https://backend-zeta-seven-85.vercel.app/api/$1' }), all frontend API calls use relative paths (/api/auth/login). This delivers three enterprise benefits:</a:t>
            </a:r>
            <a:br/>
            <a:r>
              <a:t>1. Zero CORS Issues: Browser treats API and Frontend as the same origin.</a:t>
            </a:r>
            <a:br/>
            <a:r>
              <a:t>2. Cookie Integrity: SameSite HTTP-only cookies are securely passed without third-party cookie blocking.</a:t>
            </a:r>
            <a:br/>
            <a:r>
              <a:t>3. Transparent Scaling: Backend service can be relocated without altering frontend code.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Eventigo (Atomic-Ops) | Enterprise Platform Architecture  •  Slide 11 of 14  •  Live: eventigo-mu.vercel.app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EVALUATION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Live Demonstration Credentials &amp; Test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Pre-seeded test personas for grading and stakeholder walkthroughs (All Passwords: 123)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28800"/>
          <a:ext cx="1072865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645920"/>
                <a:gridCol w="2377440"/>
                <a:gridCol w="1645920"/>
                <a:gridCol w="2956255"/>
              </a:tblGrid>
              <a:tr h="7162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2835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User ID / ID</a:t>
                      </a:r>
                    </a:p>
                  </a:txBody>
                  <a:tcPr>
                    <a:solidFill>
                      <a:srgbClr val="2835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Email Address</a:t>
                      </a:r>
                    </a:p>
                  </a:txBody>
                  <a:tcPr>
                    <a:solidFill>
                      <a:srgbClr val="2835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Password / 2FA</a:t>
                      </a:r>
                    </a:p>
                  </a:txBody>
                  <a:tcPr>
                    <a:solidFill>
                      <a:srgbClr val="2835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Evaluation Destination &amp; Task</a:t>
                      </a:r>
                    </a:p>
                  </a:txBody>
                  <a:tcPr>
                    <a:solidFill>
                      <a:srgbClr val="28354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👑 Super Admin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superadmin1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superadmin1@eventigo.com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123 (OTP: 123456)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/superadmin -&gt; Test Gate Freeze &amp; Commission Slider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🛡️ Admin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admin1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admin1@eventigo.com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123 (OTP: 123456)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/admin -&gt; Observe Super Admin role locked as immutable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⚡ Organizer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organizer1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organizer1@eventigo.com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123 (Direct)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/organizer -&gt; Create new event &amp; add ticket inventory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🚪 Door Staff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staff1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staff1@eventigo.com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123 (Direct)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/door-checker -&gt; Scan tickets &amp; observe lockdown rejection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🎟️ Attendee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user1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user1@eventigo.com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123 (Direct)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/events -&gt; Book tickets, view 3D holographic pass &amp; PDF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Eventigo (Atomic-Ops) | Enterprise Platform Architecture  •  Slide 12 of 14  •  Live: eventigo-mu.vercel.app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Atomic-Ops: Architectural Accomplishments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Key technical metrics delivered across full stack development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66360" cy="1920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100% Zero-Oversell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4617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Atomic database increment guards eliminate race conditions under concurrent load.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166360" cy="1920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&lt; 500ms Turnstile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23160"/>
            <a:ext cx="4617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Instant platform-wide propagation of emergency gate freezes and single-use check-ins.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166360" cy="1920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6052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Dual-Engine Zero-Downtime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4617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Mongoose ODM with seamless in-memory relational proxy fallback ensuring 100% uptime.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977639"/>
            <a:ext cx="5166360" cy="1920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16052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5-Tier Immutable RBAC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572000"/>
            <a:ext cx="4617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Complete role isolation with cryptographic Super Admin role protection.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Eventigo (Atomic-Ops) | Enterprise Platform Architecture  •  Slide 13 of 14  •  Live: eventigo-mu.vercel.app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4484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8FAFC"/>
                </a:solidFill>
              </a:defRPr>
            </a:pPr>
            <a:r>
              <a:t>EVENTIGO (ATOMIC-OPS)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46888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8BDF8"/>
                </a:solidFill>
              </a:defRPr>
            </a:pPr>
            <a:r>
              <a:t>Enterprise-Grade High-Concurrency Event Ticketing &amp; Turnstile Operations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3474720"/>
            <a:ext cx="7619695" cy="2468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14600" y="3657600"/>
            <a:ext cx="71624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Project Links &amp; Demonstration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931920"/>
            <a:ext cx="70710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F8FAFC"/>
                </a:solidFill>
              </a:defRPr>
            </a:pPr>
            <a:r>
              <a:t>• Live Production App: https://eventigo-mu.vercel.app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Cloud REST API: https://backend-zeta-seven-85.vercel.app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GitHub Source Code: https://github.com/bablu5911/Eventigo-Atomic-Ops.git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Master Test Password: '123' (2FA OTP: '123456' for Super Admin / Admin)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Engine Features: Zero-Oversell Locks, Gate Freeze, 3D WebGL Badge, Dynamic Commission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Eventigo (Atomic-Ops) | Enterprise Platform Architecture  •  Slide 14 of 14  •  Live: eventigo-mu.vercel.app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